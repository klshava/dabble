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88950"/>
  <p:notesSz cx="6858000" cy="9144000"/>
  <p:embeddedFontLst>
    <p:embeddedFont>
      <p:font typeface="Quattrocen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sl/G7YCNnbF9+gIEt96qEV5Cs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7" Type="http://customschemas.google.com/relationships/presentationmetadata" Target="metadata"/><Relationship Id="rId16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6513a85e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6513a85ea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1783080"/>
            <a:ext cx="12188952" cy="109728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Dabble Sports Betting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C4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Analytics Dashboard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50975" y="306324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Power BI portfolio project built to demonstrate BI analyst skills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50975" y="3566165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 ·  Simulated sports betting data  (100,000 bets, 5,000 customers)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350975" y="3931925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 ·  Power BI Desktop  |  DAX  |  Python (data generation)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50975" y="4297685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Author  ·  Kudzai Shava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594360"/>
            <a:ext cx="12188952" cy="73152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Overview &amp; Data Model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274320" y="822960"/>
            <a:ext cx="5303520" cy="53949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57200" y="8686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57200" y="1234440"/>
            <a:ext cx="493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page Power BI report that mirrors the analytics a BI analyst at Dabble would produce day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day  covering commercial performance and customer intelligence.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57200" y="21488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Datasets Used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594360" y="2606040"/>
            <a:ext cx="475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fact_bets.csv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100,000 bets with dates, odds, stake, GGR, win/loss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dim_users.csv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5,000 customers with country, age, gender, tier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dim_date.csv 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Full calendar table (2022–2024) for time intelligence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457200" y="3977639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&amp; Skills Demonstrated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94360" y="4434840"/>
            <a:ext cx="475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Power BI Desktop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report design, slicers, cross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filtering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DAX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SUM, DIVIDE, CALCULATE, DISTINCTCOUNT measures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Data modelling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star schema with active relationships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Python</a:t>
            </a:r>
            <a:r>
              <a:rPr lang="en-US" sz="1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b="0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synthetic data generation (pandas, numpy)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035040" y="822960"/>
            <a:ext cx="5852160" cy="53949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217920" y="868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 Schema Model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589465" y="1435620"/>
            <a:ext cx="2560200" cy="146310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7635135" y="1476748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C4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fact_bets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680960" y="301752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bet_id  |  bet_date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user_id  |  sport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stake  |  GGR  |  odds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6217920" y="2651760"/>
            <a:ext cx="2286000" cy="1280160"/>
          </a:xfrm>
          <a:prstGeom prst="rect">
            <a:avLst/>
          </a:prstGeom>
          <a:solidFill>
            <a:srgbClr val="5A0FA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263640" y="2697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dim_users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263640" y="30175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user_id  ·  country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age_group  ·  gender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customer_tier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9555480" y="2651760"/>
            <a:ext cx="2194560" cy="1280160"/>
          </a:xfrm>
          <a:prstGeom prst="rect">
            <a:avLst/>
          </a:prstGeom>
          <a:solidFill>
            <a:srgbClr val="5A0FA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601200" y="2697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dim_date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9601200" y="301752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date  ·  year  ·  month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quarter  ·  week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day_of_week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458208" y="1842508"/>
            <a:ext cx="914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user_id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481071" y="2345448"/>
            <a:ext cx="9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bet_date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6217920" y="41148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Relationships: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6217920" y="443484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dim_users[user_id]  →  fact_bets[user_id]   (Many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One)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217920" y="475488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dim_date[date]  →  fact_bets[bet_date]   (Many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0" y="594360"/>
            <a:ext cx="12188952" cy="73152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 Page 1  ·  Commercial Overview</a:t>
            </a:r>
            <a:endParaRPr/>
          </a:p>
        </p:txBody>
      </p:sp>
      <p:pic>
        <p:nvPicPr>
          <p:cNvPr descr="Screenshot-2026-04-26-074243.jpg"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11640312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Dabble Analytics Portfolio  ·  Kudzai Shava  · 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594360"/>
            <a:ext cx="12188952" cy="73152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Insights  ·  Commercial Overview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274320" y="86868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74320" y="868680"/>
            <a:ext cx="164592" cy="1508760"/>
          </a:xfrm>
          <a:prstGeom prst="rect">
            <a:avLst/>
          </a:prstGeom>
          <a:solidFill>
            <a:srgbClr val="9437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48640" y="960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GGR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$1.33M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548640" y="1737360"/>
            <a:ext cx="5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across 100,000 bets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Football drives $573K (43%) of total revenue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217920" y="86868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217920" y="868680"/>
            <a:ext cx="164592" cy="1508760"/>
          </a:xfrm>
          <a:prstGeom prst="rect">
            <a:avLst/>
          </a:prstGeom>
          <a:solidFill>
            <a:srgbClr val="9437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492240" y="960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Sport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Football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6492240" y="173736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49% of all bets placed; Tennis second at 18%. Core product focus confirmed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274320" y="2606039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74320" y="2606039"/>
            <a:ext cx="164592" cy="1508760"/>
          </a:xfrm>
          <a:prstGeom prst="rect">
            <a:avLst/>
          </a:prstGeom>
          <a:solidFill>
            <a:srgbClr val="9437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48640" y="269747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Formula 1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548640" y="30175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–$3.6K GGR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548640" y="3474720"/>
            <a:ext cx="5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loss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making sport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revealed through waterfall chart analysis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217920" y="2606039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217920" y="2606039"/>
            <a:ext cx="164592" cy="1508760"/>
          </a:xfrm>
          <a:prstGeom prst="rect">
            <a:avLst/>
          </a:prstGeom>
          <a:solidFill>
            <a:srgbClr val="9437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492240" y="269747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Customer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6492240" y="30175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2813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6492240" y="3474720"/>
            <a:ext cx="5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Highest total stake at $23K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colour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coded by GGR contribution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274320" y="434340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274320" y="4343400"/>
            <a:ext cx="164592" cy="1508760"/>
          </a:xfrm>
          <a:prstGeom prst="rect">
            <a:avLst/>
          </a:prstGeom>
          <a:solidFill>
            <a:srgbClr val="9437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 Type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548640" y="4754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Singles win more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548640" y="521208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 bets have consistently higher win rates than multiples across all sports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6217920" y="434340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217920" y="4343400"/>
            <a:ext cx="164592" cy="1508760"/>
          </a:xfrm>
          <a:prstGeom prst="rect">
            <a:avLst/>
          </a:prstGeom>
          <a:solidFill>
            <a:srgbClr val="9437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6492240" y="44348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Odds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492240" y="4754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4.7x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6492240" y="521208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Multiples attract higher odds which drives bigger GGR variance for the operator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Dabble Analytics Portfolio  ·  Kudzai Shava  · 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0" y="594360"/>
            <a:ext cx="12188952" cy="73152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 Page 2  ·  Customer &amp; Time Intelligence</a:t>
            </a:r>
            <a:endParaRPr/>
          </a:p>
        </p:txBody>
      </p:sp>
      <p:pic>
        <p:nvPicPr>
          <p:cNvPr descr="Screenshot-2026-04-26-074231.jpg" id="178" name="Google Shape;1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11640312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Dabble Analytics Portfolio  ·  Kudzai Shava  · 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0" y="594360"/>
            <a:ext cx="12188952" cy="73152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Insights  ·  Customer &amp; Time Intelligence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74320" y="86868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274320" y="868680"/>
            <a:ext cx="164592" cy="1508760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548640" y="960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Market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548640" y="12801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Australia (64%)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548640" y="1737360"/>
            <a:ext cx="5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$852K GGR from Australian customers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validates Dabble's market focus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217920" y="86868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217920" y="868680"/>
            <a:ext cx="164592" cy="1508760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6492240" y="960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Tier Value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VIP = $341/user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6492240" y="173736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VIP customers generate 25% more GGR per head than Bronze tier customers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74320" y="2606039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74320" y="2606039"/>
            <a:ext cx="164592" cy="1508760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548640" y="269747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Weekend Effect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548640" y="30175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+80% bets Sat/Sun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548640" y="3474720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Weekend volume spikes to 21K bets/day vs 11.5K on weekdays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key for promotions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217920" y="2606039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217920" y="2606039"/>
            <a:ext cx="164592" cy="1508760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6492240" y="2697479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 Insight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6492240" y="30175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35–44 win most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6492240" y="3474720"/>
            <a:ext cx="5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35–44 age group has the highest win rate at 36.9%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valuable for risk modelling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274320" y="434340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74320" y="4343400"/>
            <a:ext cx="164592" cy="1508760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Gender Split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548640" y="4754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Male = 75% GGR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548640" y="5212080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Male customers drive 75% of GGR across all tiers</a:t>
            </a:r>
            <a:r>
              <a:rPr lang="en-US" sz="11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demographic targeting opportunity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6217920" y="4343400"/>
            <a:ext cx="557784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217920" y="4343400"/>
            <a:ext cx="164592" cy="1508760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6492240" y="44348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GGR Growth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6492240" y="4754880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b="1" lang="en-US" sz="2200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b="1" i="0" lang="en-US" sz="22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year uptrend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6492240" y="521208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00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Monthly GGR grew consistently from 2022 to 2024 across all customer segments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0F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Dabble Analytics Portfolio  ·  Kudzai Shava  · 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6513a85ea_2_0"/>
          <p:cNvSpPr/>
          <p:nvPr/>
        </p:nvSpPr>
        <p:spPr>
          <a:xfrm>
            <a:off x="0" y="2514600"/>
            <a:ext cx="12189000" cy="1828800"/>
          </a:xfrm>
          <a:prstGeom prst="rect">
            <a:avLst/>
          </a:prstGeom>
          <a:solidFill>
            <a:srgbClr val="1A003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e6513a85ea_2_0"/>
          <p:cNvSpPr/>
          <p:nvPr/>
        </p:nvSpPr>
        <p:spPr>
          <a:xfrm>
            <a:off x="-25" y="3575968"/>
            <a:ext cx="12189000" cy="109800"/>
          </a:xfrm>
          <a:prstGeom prst="rect">
            <a:avLst/>
          </a:prstGeom>
          <a:solidFill>
            <a:srgbClr val="F5C4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6513a85ea_2_0"/>
          <p:cNvSpPr txBox="1"/>
          <p:nvPr/>
        </p:nvSpPr>
        <p:spPr>
          <a:xfrm>
            <a:off x="457200" y="182880"/>
            <a:ext cx="1097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Dabble Sports Betting</a:t>
            </a:r>
            <a:endParaRPr/>
          </a:p>
        </p:txBody>
      </p:sp>
      <p:sp>
        <p:nvSpPr>
          <p:cNvPr id="227" name="Google Shape;227;g3e6513a85ea_2_0"/>
          <p:cNvSpPr txBox="1"/>
          <p:nvPr/>
        </p:nvSpPr>
        <p:spPr>
          <a:xfrm>
            <a:off x="327350" y="2932260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C4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1" sz="3600">
              <a:solidFill>
                <a:srgbClr val="F5C4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8" name="Google Shape;228;g3e6513a85ea_2_0"/>
          <p:cNvSpPr/>
          <p:nvPr/>
        </p:nvSpPr>
        <p:spPr>
          <a:xfrm>
            <a:off x="0" y="6309360"/>
            <a:ext cx="12189000" cy="5487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